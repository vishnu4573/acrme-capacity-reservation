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ACRME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0">
                <a:solidFill>
                  <a:srgbClr val="BFD8E8"/>
                </a:solidFill>
                <a:latin typeface="Calibri"/>
              </a:rPr>
              <a:t>Azure Capacity Reservation Management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8F8F"/>
                </a:solidFill>
                <a:latin typeface="Calibri"/>
              </a:rPr>
              <a:t>Key Architectural Diagrams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BFD8E8"/>
                </a:solidFill>
                <a:latin typeface="Calibri"/>
              </a:rPr>
              <a:t>Presentation &amp; Infographic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8FB0C7"/>
                </a:solidFill>
                <a:latin typeface="Calibri"/>
              </a:rPr>
              <a:t>Confidential — Engineering Design  •  6 Core Architecture 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Six Core Architecture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0" cy="1572768"/>
          </a:xfrm>
          <a:prstGeom prst="rect">
            <a:avLst/>
          </a:prstGeom>
          <a:solidFill>
            <a:srgbClr val="F2F6FA"/>
          </a:solidFill>
          <a:ln w="15875">
            <a:solidFill>
              <a:srgbClr val="2E6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28016" cy="157276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27048"/>
            <a:ext cx="91440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2E6CB5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45336"/>
            <a:ext cx="4114800" cy="1389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0B2A4A"/>
                </a:solidFill>
                <a:latin typeface="Calibri"/>
              </a:rPr>
              <a:t>System Architecture Overview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End-to-end control plane spanning Prod, NonProd and DR regions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1417320"/>
            <a:ext cx="5486400" cy="1572768"/>
          </a:xfrm>
          <a:prstGeom prst="rect">
            <a:avLst/>
          </a:prstGeom>
          <a:solidFill>
            <a:srgbClr val="F2F6FA"/>
          </a:solidFill>
          <a:ln w="15875">
            <a:solidFill>
              <a:srgbClr val="148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417320"/>
            <a:ext cx="128016" cy="1572768"/>
          </a:xfrm>
          <a:prstGeom prst="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527048"/>
            <a:ext cx="91440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148F8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1545336"/>
            <a:ext cx="4114800" cy="1389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0B2A4A"/>
                </a:solidFill>
                <a:latin typeface="Calibri"/>
              </a:rPr>
              <a:t>Quota Group Architecture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Two quota groups per region and why the NonProd+DR group is Tier-3 quota-neutral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5486400" cy="1572768"/>
          </a:xfrm>
          <a:prstGeom prst="rect">
            <a:avLst/>
          </a:prstGeom>
          <a:solidFill>
            <a:srgbClr val="F2F6FA"/>
          </a:solidFill>
          <a:ln w="15875">
            <a:solidFill>
              <a:srgbClr val="C1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128016" cy="1572768"/>
          </a:xfrm>
          <a:prstGeom prst="rect">
            <a:avLst/>
          </a:prstGeom>
          <a:solidFill>
            <a:srgbClr val="C1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64408"/>
            <a:ext cx="91440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C1572E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282696"/>
            <a:ext cx="4114800" cy="1389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0B2A4A"/>
                </a:solidFill>
                <a:latin typeface="Calibri"/>
              </a:rPr>
              <a:t>Placement Engine Flow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How a placement request is filtered through 7 hard constraints and scored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3154680"/>
            <a:ext cx="5486400" cy="1572768"/>
          </a:xfrm>
          <a:prstGeom prst="rect">
            <a:avLst/>
          </a:prstGeom>
          <a:solidFill>
            <a:srgbClr val="F2F6FA"/>
          </a:solidFill>
          <a:ln w="15875">
            <a:solidFill>
              <a:srgbClr val="5B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3154680"/>
            <a:ext cx="128016" cy="1572768"/>
          </a:xfrm>
          <a:prstGeom prst="rect">
            <a:avLst/>
          </a:prstGeom>
          <a:solidFill>
            <a:srgbClr val="5B8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264408"/>
            <a:ext cx="91440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5B8C3E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3282696"/>
            <a:ext cx="4114800" cy="1389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0B2A4A"/>
                </a:solidFill>
                <a:latin typeface="Calibri"/>
              </a:rPr>
              <a:t>Steady-State Capacity Lifecycle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Auto-increase triggers, debounce guard and approval-gated vs self-managed phases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92040"/>
            <a:ext cx="5486400" cy="1572768"/>
          </a:xfrm>
          <a:prstGeom prst="rect">
            <a:avLst/>
          </a:prstGeom>
          <a:solidFill>
            <a:srgbClr val="F2F6FA"/>
          </a:solidFill>
          <a:ln w="15875">
            <a:solidFill>
              <a:srgbClr val="7A4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92040"/>
            <a:ext cx="128016" cy="1572768"/>
          </a:xfrm>
          <a:prstGeom prst="rect">
            <a:avLst/>
          </a:prstGeom>
          <a:solidFill>
            <a:srgbClr val="7A4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001768"/>
            <a:ext cx="91440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7A4EA3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020056"/>
            <a:ext cx="4114800" cy="1389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0B2A4A"/>
                </a:solidFill>
                <a:latin typeface="Calibri"/>
              </a:rPr>
              <a:t>Emergency Capacity Transfer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Three-tier crisis response, only valid when engine_mode == DR_EVENT_ACTIVE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4892040"/>
            <a:ext cx="5486400" cy="1572768"/>
          </a:xfrm>
          <a:prstGeom prst="rect">
            <a:avLst/>
          </a:prstGeom>
          <a:solidFill>
            <a:srgbClr val="F2F6FA"/>
          </a:solidFill>
          <a:ln w="15875">
            <a:solidFill>
              <a:srgbClr val="B5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4892040"/>
            <a:ext cx="128016" cy="1572768"/>
          </a:xfrm>
          <a:prstGeom prst="rect">
            <a:avLst/>
          </a:prstGeom>
          <a:solidFill>
            <a:srgbClr val="B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5001768"/>
            <a:ext cx="91440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B53A5B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208" y="5020056"/>
            <a:ext cx="4114800" cy="1389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0B2A4A"/>
                </a:solidFill>
                <a:latin typeface="Calibri"/>
              </a:rPr>
              <a:t>VM Disassociation Sequence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Tier-3 execution: safe Path B (VM keeps running) with Path A deallocate fallback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554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DIAGRAM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2E6CB5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57200"/>
            <a:ext cx="94183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Calibri"/>
              </a:rPr>
              <a:t>System Architecture Overview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48F8F"/>
                </a:solidFill>
                <a:latin typeface="Calibri"/>
              </a:rPr>
              <a:t>End-to-end control plane spanning Prod, NonProd and DR regions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691640"/>
            <a:ext cx="9326880" cy="3200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82296" cy="102412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3 isolated regions: Prod CRG | NonProd CRG | DR CRG (30–40% of Prod demand)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82296" cy="102412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Engine services: Placement, Reconciliation (5-min), Capacity Transfer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251960"/>
            <a:ext cx="82296" cy="102412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Redis RegionalSnapshot cache (5-min TTL) synced from Cosmos DB control plane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394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82296" cy="102412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Cosmos DB entities: Assignment, Policy, IncreaseRequest, QuotaGroup, 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ACRME — Azure Capacity Reservation Management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Diagram 01 — System Architecture Overview</a:t>
            </a:r>
          </a:p>
        </p:txBody>
      </p:sp>
      <p:pic>
        <p:nvPicPr>
          <p:cNvPr id="5" name="Picture 4" descr="diagram_1_system_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485614"/>
            <a:ext cx="11795760" cy="47920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554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DIAGRAM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148F8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57200"/>
            <a:ext cx="94183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Calibri"/>
              </a:rPr>
              <a:t>Quota Group Architecture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48F8F"/>
                </a:solidFill>
                <a:latin typeface="Calibri"/>
              </a:rPr>
              <a:t>Two quota groups per region and why the NonProd+DR group is Tier-3 quota-neutral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691640"/>
            <a:ext cx="9326880" cy="32004"/>
          </a:xfrm>
          <a:prstGeom prst="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82296" cy="1024128"/>
          </a:xfrm>
          <a:prstGeom prst="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Group 1 — Prod: HARD isolation, NonProd/DR cannot consume; +20% growth buffer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82296" cy="1024128"/>
          </a:xfrm>
          <a:prstGeom prst="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Group 2 — NonProd+DR: shared vCPU pool (NonProd / DR / Emergency headroom)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251960"/>
            <a:ext cx="82296" cy="1024128"/>
          </a:xfrm>
          <a:prstGeom prst="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DR floor &amp; emergency headroom are engine-enforced sub-limits (no native Azure sub-reservations)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394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82296" cy="1024128"/>
          </a:xfrm>
          <a:prstGeom prst="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Shared pool → Tier-3 transfers are quota-neutral; RTO gated only by ARM propagation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ACRME — Azure Capacity Reservation Management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Diagram 02 — Quota Group Architecture</a:t>
            </a:r>
          </a:p>
        </p:txBody>
      </p:sp>
      <p:pic>
        <p:nvPicPr>
          <p:cNvPr id="5" name="Picture 4" descr="diagram_2_quota_grou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86" y="1024128"/>
            <a:ext cx="3516923" cy="5714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554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DIAGRAM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C1572E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57200"/>
            <a:ext cx="94183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Calibri"/>
              </a:rPr>
              <a:t>Placement Engine Flow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48F8F"/>
                </a:solidFill>
                <a:latin typeface="Calibri"/>
              </a:rPr>
              <a:t>How a placement request is filtered through 7 hard constraints and scored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691640"/>
            <a:ext cx="9326880" cy="32004"/>
          </a:xfrm>
          <a:prstGeom prst="rect">
            <a:avLst/>
          </a:prstGeom>
          <a:solidFill>
            <a:srgbClr val="C1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82296" cy="1024128"/>
          </a:xfrm>
          <a:prstGeom prst="rect">
            <a:avLst/>
          </a:prstGeom>
          <a:solidFill>
            <a:srgbClr val="C1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Loads RegionalSnapshot + PlacementPolicy; candidate pool excludes prod_region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82296" cy="1024128"/>
          </a:xfrm>
          <a:prstGeom prst="rect">
            <a:avLst/>
          </a:prstGeom>
          <a:solidFill>
            <a:srgbClr val="C1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HC-1..HC-7 hard filters eliminate regions (no override possible)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251960"/>
            <a:ext cx="82296" cy="1024128"/>
          </a:xfrm>
          <a:prstGeom prst="rect">
            <a:avLst/>
          </a:prstGeom>
          <a:solidFill>
            <a:srgbClr val="C1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Weighted scoring PS = α·CRG + β·Quota + γ·Dist + δ·DR_Buffer + ε·Zone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394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82296" cy="1024128"/>
          </a:xfrm>
          <a:prstGeom prst="rect">
            <a:avLst/>
          </a:prstGeom>
          <a:solidFill>
            <a:srgbClr val="C1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Selects NonProd &amp; DR regions independently; writes audited CustomerRegionAssignment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ACRME — Azure Capacity Reservation Management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C1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Diagram 03 — Placement Engine Flow</a:t>
            </a:r>
          </a:p>
        </p:txBody>
      </p:sp>
      <p:pic>
        <p:nvPicPr>
          <p:cNvPr id="5" name="Picture 4" descr="diagram_3_placement_eng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713" y="1024128"/>
            <a:ext cx="1978269" cy="5714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8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554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DIAGRAM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5B8C3E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57200"/>
            <a:ext cx="94183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Calibri"/>
              </a:rPr>
              <a:t>Steady-State Capacity Lifecycle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48F8F"/>
                </a:solidFill>
                <a:latin typeface="Calibri"/>
              </a:rPr>
              <a:t>Auto-increase triggers, debounce guard and approval-gated vs self-managed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691640"/>
            <a:ext cx="9326880" cy="32004"/>
          </a:xfrm>
          <a:prstGeom prst="rect">
            <a:avLst/>
          </a:prstGeom>
          <a:solidFill>
            <a:srgbClr val="5B8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82296" cy="1024128"/>
          </a:xfrm>
          <a:prstGeom prst="rect">
            <a:avLst/>
          </a:prstGeom>
          <a:solidFill>
            <a:srgbClr val="5B8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Reconciliation loop evaluates DR / Prod / NonProd CRGs against auto-increase thresholds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82296" cy="1024128"/>
          </a:xfrm>
          <a:prstGeom prst="rect">
            <a:avLst/>
          </a:prstGeom>
          <a:solidFill>
            <a:srgbClr val="5B8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DR threshold 0.35, Prod/NonProd 0.20; 30-min debounce cooldown per region+CRG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251960"/>
            <a:ext cx="82296" cy="1024128"/>
          </a:xfrm>
          <a:prstGeom prst="rect">
            <a:avLst/>
          </a:prstGeom>
          <a:solidFill>
            <a:srgbClr val="5B8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Phase A (current): approval-gated operator review in ACRME Control Plane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394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82296" cy="1024128"/>
          </a:xfrm>
          <a:prstGeom prst="rect">
            <a:avLst/>
          </a:prstGeom>
          <a:solidFill>
            <a:srgbClr val="5B8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Phase B (future): self-managed auto-approve when quota headroom is sufficient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ACRME — Azure Capacity Reservation Management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5B8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Diagram 04 — Steady-State Capacity Lifecycle</a:t>
            </a:r>
          </a:p>
        </p:txBody>
      </p:sp>
      <p:pic>
        <p:nvPicPr>
          <p:cNvPr id="5" name="Picture 4" descr="diagram_4_steady_state_capacity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419" y="1024128"/>
            <a:ext cx="391885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A4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554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DIAGRAM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7A4EA3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57200"/>
            <a:ext cx="94183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Calibri"/>
              </a:rPr>
              <a:t>Emergency Capacity Transfer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48F8F"/>
                </a:solidFill>
                <a:latin typeface="Calibri"/>
              </a:rPr>
              <a:t>Three-tier crisis response, only valid when engine_mode == DR_EVENT_ACTIVE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691640"/>
            <a:ext cx="9326880" cy="32004"/>
          </a:xfrm>
          <a:prstGeom prst="rect">
            <a:avLst/>
          </a:prstGeom>
          <a:solidFill>
            <a:srgbClr val="7A4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82296" cy="1024128"/>
          </a:xfrm>
          <a:prstGeom prst="rect">
            <a:avLst/>
          </a:prstGeom>
          <a:solidFill>
            <a:srgbClr val="7A4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Tier 1 DirectExpansion: fully automated from pre-staged headroom (RTO = ARM minutes)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82296" cy="1024128"/>
          </a:xfrm>
          <a:prstGeom prst="rect">
            <a:avLst/>
          </a:prstGeom>
          <a:solidFill>
            <a:srgbClr val="7A4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Tier 2 QuotaNeutralTransfer: policy-gated, reduce NonProd → expand DR, no downtime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251960"/>
            <a:ext cx="82296" cy="1024128"/>
          </a:xfrm>
          <a:prstGeom prst="rect">
            <a:avLst/>
          </a:prstGeom>
          <a:solidFill>
            <a:srgbClr val="7A4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Tier 3 DestructiveTransfer: operator dual-approval; VM disassociation (see Diagram 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394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82296" cy="1024128"/>
          </a:xfrm>
          <a:prstGeom prst="rect">
            <a:avLst/>
          </a:prstGeom>
          <a:solidFill>
            <a:srgbClr val="7A4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Sizing: DR 40% + headroom 30% = 70% of Prod demand; remaining 30% → Tier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ACRME — Azure Capacity Reservation Management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7A4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Diagram 05 — Emergency Capacity Transfer</a:t>
            </a:r>
          </a:p>
        </p:txBody>
      </p:sp>
      <p:pic>
        <p:nvPicPr>
          <p:cNvPr id="5" name="Picture 4" descr="diagram_5_emergency_capacity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847" y="1024128"/>
            <a:ext cx="381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554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DIAGRAM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B53A5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57200"/>
            <a:ext cx="94183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Calibri"/>
              </a:rPr>
              <a:t>VM Disassociation Sequence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48F8F"/>
                </a:solidFill>
                <a:latin typeface="Calibri"/>
              </a:rPr>
              <a:t>Tier-3 execution: safe Path B (VM keeps running) with Path A deallocate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691640"/>
            <a:ext cx="9326880" cy="32004"/>
          </a:xfrm>
          <a:prstGeom prst="rect">
            <a:avLst/>
          </a:prstGeom>
          <a:solidFill>
            <a:srgbClr val="B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82296" cy="1024128"/>
          </a:xfrm>
          <a:prstGeom prst="rect">
            <a:avLst/>
          </a:prstGeom>
          <a:solidFill>
            <a:srgbClr val="B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Precondition validation: NonProd-only VMs, CRG association &amp; coverage confirmed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82296" cy="1024128"/>
          </a:xfrm>
          <a:prstGeom prst="rect">
            <a:avLst/>
          </a:prstGeom>
          <a:solidFill>
            <a:srgbClr val="B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Order: Dev → Test → Staging; smallest vCPU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251960"/>
            <a:ext cx="82296" cy="1024128"/>
          </a:xfrm>
          <a:prstGeom prst="rect">
            <a:avLst/>
          </a:prstGeom>
          <a:solidFill>
            <a:srgbClr val="B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Path B (default): reduce provider CR → clear VM CRG ref → VM continues running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394960"/>
            <a:ext cx="1051560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82296" cy="1024128"/>
          </a:xfrm>
          <a:prstGeom prst="rect">
            <a:avLst/>
          </a:prstGeom>
          <a:solidFill>
            <a:srgbClr val="B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100584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33F50"/>
                </a:solidFill>
                <a:latin typeface="Calibri"/>
              </a:rPr>
              <a:t>Path A fallback: deallocate VM (restart required); every step logged as VM_ImpactRecord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ACRME — Azure Capacity Reservation Management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B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Diagram 06 — VM Disassociation Sequence</a:t>
            </a:r>
          </a:p>
        </p:txBody>
      </p:sp>
      <p:pic>
        <p:nvPicPr>
          <p:cNvPr id="5" name="Picture 4" descr="diagram_6_vm_disassociation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85" y="1024128"/>
            <a:ext cx="210652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CFE2EE"/>
                </a:solidFill>
                <a:latin typeface="Calibri"/>
              </a:rPr>
              <a:t>• Hard region isolation: Prod ≠ NonProd ≠ DR, enforced across placement &amp; quota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CFE2EE"/>
                </a:solidFill>
                <a:latin typeface="Calibri"/>
              </a:rPr>
              <a:t>• Quota-neutral crisis response via shared NonProd+DR pool (Tiers 1–3)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CFE2EE"/>
                </a:solidFill>
                <a:latin typeface="Calibri"/>
              </a:rPr>
              <a:t>• Deterministic, fully-audited placement through 7 hard constraints + weighted scoring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CFE2EE"/>
                </a:solidFill>
                <a:latin typeface="Calibri"/>
              </a:rPr>
              <a:t>• Steady-state auto-increase with debounce; DR-safe VM disassociation ordering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