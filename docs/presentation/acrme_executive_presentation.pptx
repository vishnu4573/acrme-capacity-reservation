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25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FC5E8"/>
                </a:solidFill>
                <a:latin typeface="Calibri"/>
              </a:rPr>
              <a:t>INTERNAL — RESTRICTED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Azure Capacity Reservation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Management Engine (ACRME)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FE2F3"/>
                </a:solidFill>
                <a:latin typeface="Calibri"/>
              </a:rPr>
              <a:t>Executive Design Document — Prepared for Leadership Review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FC5E8"/>
                </a:solidFill>
                <a:latin typeface="Calibri"/>
              </a:rPr>
              <a:t>Booking, sharing, and protecting cloud capacity across customers and regions — with disaster recovery built 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FA9CC"/>
                </a:solidFill>
                <a:latin typeface="Calibri"/>
              </a:rPr>
              <a:t>Version 1.0  ·  21 August 2026  ·  Status: Design Complete — Validation In Progress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D4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E4F"/>
                </a:solidFill>
                <a:latin typeface="Calibri"/>
              </a:rPr>
              <a:t>The Position in One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25400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ACRME — Executive Design Document  ·  Internal — Restricted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486400" cy="3108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78D4"/>
                </a:solidFill>
                <a:latin typeface="Calibri"/>
              </a:rPr>
              <a:t>What ACRME Is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A central control system that books, shares, and protects cloud server capacity across many customer accounts and locations — a reservation desk for cloud computing power.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800" b="1" i="0">
                <a:solidFill>
                  <a:srgbClr val="0078D4"/>
                </a:solidFill>
                <a:latin typeface="Calibri"/>
              </a:rPr>
              <a:t>What It Does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Maintains shared pools of reserved capacity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Chooses the best location for each customer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Protects a dedicated disaster-recovery floor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Requires human approval for high-risk actions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Records every decision for audit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82296" cy="86868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5212080" cy="86868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47548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B6B7B"/>
                </a:solidFill>
                <a:latin typeface="Calibri"/>
              </a:rPr>
              <a:t>Design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2E4F"/>
                </a:solidFill>
                <a:latin typeface="Calibri"/>
              </a:rPr>
              <a:t>Complete &amp; independently reviewed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670048"/>
            <a:ext cx="82296" cy="86868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670048"/>
            <a:ext cx="5212080" cy="86868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761488"/>
            <a:ext cx="47548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B6B7B"/>
                </a:solidFill>
                <a:latin typeface="Calibri"/>
              </a:rPr>
              <a:t>Fact-check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2E4F"/>
                </a:solidFill>
                <a:latin typeface="Calibri"/>
              </a:rPr>
              <a:t>7 gaps identified and corrected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694176"/>
            <a:ext cx="82296" cy="868680"/>
          </a:xfrm>
          <a:prstGeom prst="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694176"/>
            <a:ext cx="5212080" cy="86868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785616"/>
            <a:ext cx="47548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B6B7B"/>
                </a:solidFill>
                <a:latin typeface="Calibri"/>
              </a:rPr>
              <a:t>Validation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2E4F"/>
                </a:solidFill>
                <a:latin typeface="Calibri"/>
              </a:rPr>
              <a:t>Planned — not yet executed end-to-end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718304"/>
            <a:ext cx="82296" cy="86868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718304"/>
            <a:ext cx="5212080" cy="86868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809744"/>
            <a:ext cx="47548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B6B7B"/>
                </a:solidFill>
                <a:latin typeface="Calibri"/>
              </a:rPr>
              <a:t>Production readiness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2E4F"/>
                </a:solidFill>
                <a:latin typeface="Calibri"/>
              </a:rPr>
              <a:t>≈ 4 / 10 — strong design, unproven execution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D4"/>
                </a:solidFill>
                <a:latin typeface="Calibri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E4F"/>
                </a:solidFill>
                <a:latin typeface="Calibri"/>
              </a:rPr>
              <a:t>The Business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25400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ACRME — Executive Design Document  ·  Internal — Restricted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Cloud capacity is only guaranteed when it is reserved in advance. Reserved capacity is billed whether or not it is used — so over-reserving wastes budget and under-reserving creates service risk. Managing that trade-off manually across dozens of customers and regions does not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78D4"/>
                </a:solidFill>
                <a:latin typeface="Calibri"/>
              </a:rPr>
              <a:t>What goes wrong without a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83280"/>
            <a:ext cx="82296" cy="548640"/>
          </a:xfrm>
          <a:prstGeom prst="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383280"/>
            <a:ext cx="11091672" cy="54864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Service disruptions when capacity is unavailable at the moment of need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86784"/>
            <a:ext cx="82296" cy="548640"/>
          </a:xfrm>
          <a:prstGeom prst="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86784"/>
            <a:ext cx="11091672" cy="54864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86784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Failed or severely delayed disaster recoveries — recovery capacity was never secured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90288"/>
            <a:ext cx="82296" cy="548640"/>
          </a:xfrm>
          <a:prstGeom prst="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590288"/>
            <a:ext cx="11091672" cy="54864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90288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Wasted cloud spend from over-reservation nobody is systematically reviewing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93792"/>
            <a:ext cx="82296" cy="548640"/>
          </a:xfrm>
          <a:prstGeom prst="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193792"/>
            <a:ext cx="11091672" cy="54864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93792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Inconsistent practices across teams, making audit and compliance difficult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797296"/>
            <a:ext cx="82296" cy="548640"/>
          </a:xfrm>
          <a:prstGeom prst="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797296"/>
            <a:ext cx="11091672" cy="54864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797296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No single view of what is reserved, used, or protected for recovery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D4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E4F"/>
                </a:solidFill>
                <a:latin typeface="Calibri"/>
              </a:rPr>
              <a:t>The Three Types of Capacity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25400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ACRME — Executive Design Document  ·  Internal — Restricted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ACRME keeps three classes of reserved capacity separate in every location — so everyday demand can never quietly consume what disaster recovery depends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3611880" cy="685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361188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Production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63240"/>
            <a:ext cx="3611880" cy="246888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315468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6B7B"/>
                </a:solidFill>
                <a:latin typeface="Calibri"/>
              </a:rPr>
              <a:t>Purpose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Everyday customer workloads that must always run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6B7B"/>
                </a:solidFill>
                <a:latin typeface="Calibri"/>
              </a:rPr>
              <a:t>How it is treated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Always reserved and paid for. Highest day-to-day priority.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8536" y="2377440"/>
            <a:ext cx="3611880" cy="6858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8536" y="2377440"/>
            <a:ext cx="361188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Non-production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8536" y="3063240"/>
            <a:ext cx="3611880" cy="246888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3246120"/>
            <a:ext cx="315468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6B7B"/>
                </a:solidFill>
                <a:latin typeface="Calibri"/>
              </a:rPr>
              <a:t>Purpose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Development, testing, and staging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6B7B"/>
                </a:solidFill>
                <a:latin typeface="Calibri"/>
              </a:rPr>
              <a:t>How it is treated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Reserved but flexible. Must not crowd out the DR share.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2377440"/>
            <a:ext cx="3611880" cy="6858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2" y="2377440"/>
            <a:ext cx="361188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Disaster recovery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8432" y="3063240"/>
            <a:ext cx="3611880" cy="246888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2" y="3246120"/>
            <a:ext cx="315468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6B7B"/>
                </a:solidFill>
                <a:latin typeface="Calibri"/>
              </a:rPr>
              <a:t>Purpose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Protected floor in a different location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6B7B"/>
                </a:solidFill>
                <a:latin typeface="Calibri"/>
              </a:rPr>
              <a:t>How it is treated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Most protected. Engine-enforced floor. Breaching actions blocked.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B2E4F"/>
                </a:solidFill>
                <a:latin typeface="Calibri"/>
              </a:rPr>
              <a:t>Hard rule: a customer's production, non-production, and DR workloads must not all sit in one geography. Production and DR must be in different locations.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D4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E4F"/>
                </a:solidFill>
                <a:latin typeface="Calibri"/>
              </a:rPr>
              <a:t>The Automation Engine — Safety Before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25400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ACRME — Executive Design Document  ·  Internal — Restricted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48640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78D4"/>
                </a:solidFill>
                <a:latin typeface="Calibri"/>
              </a:rPr>
              <a:t>The engine continuously: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•  Monitors reservation levels, usage, and headroom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•  Decides when capacity should be increased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•  Routes customers to the best location by rules &amp; policy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•  Prevents any action from destroying the DR floor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•  Requires human approval for the riskiest operations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•  Keeps a complete audit trail of every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78D4"/>
                </a:solidFill>
                <a:latin typeface="Calibri"/>
              </a:rPr>
              <a:t>Operations are tiered by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57400"/>
            <a:ext cx="82296" cy="1143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57400"/>
            <a:ext cx="5212080" cy="11430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167128"/>
            <a:ext cx="48463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8E3E"/>
                </a:solidFill>
                <a:latin typeface="Calibri"/>
              </a:rPr>
              <a:t>Tier 1 — Additive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Add DR capacity from pre-staged headroom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B6B7B"/>
                </a:solidFill>
                <a:latin typeface="Calibri"/>
              </a:rPr>
              <a:t>Allowed in a declared disaster, with fresh checks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319272"/>
            <a:ext cx="82296" cy="1143000"/>
          </a:xfrm>
          <a:prstGeom prst="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319272"/>
            <a:ext cx="5212080" cy="11430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429000"/>
            <a:ext cx="48463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B86E00"/>
                </a:solidFill>
                <a:latin typeface="Calibri"/>
              </a:rPr>
              <a:t>Tier 2 — Reallocation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Reduce non-prod to expand DR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B6B7B"/>
                </a:solidFill>
                <a:latin typeface="Calibri"/>
              </a:rPr>
              <a:t>Disabled until validation proves behaviour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581144"/>
            <a:ext cx="82296" cy="114300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581144"/>
            <a:ext cx="5212080" cy="11430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690872"/>
            <a:ext cx="48463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5221F"/>
                </a:solidFill>
                <a:latin typeface="Calibri"/>
              </a:rPr>
              <a:t>Tier 3 — Disassociation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Change how servers link to reservations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B6B7B"/>
                </a:solidFill>
                <a:latin typeface="Calibri"/>
              </a:rPr>
              <a:t>Blocked — needs permissions model + board sign-off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D4"/>
                </a:solidFill>
                <a:latin typeface="Calibri"/>
              </a:rP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E4F"/>
                </a:solidFill>
                <a:latin typeface="Calibri"/>
              </a:rPr>
              <a:t>How Placement Decisions Are Made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25400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ACRME — Executive Design Document  ·  Internal — Restricted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Managed regions span five geographies — US is three-region; Europe, Australia, Asia Pacific and Middle East are two-region. They split into two classes: hard rules filter candidates first, then the engine scores the survivors on five weighted components. Japan East is pending confirmation.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82296" cy="246888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5486400" cy="246888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12064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8E3E"/>
                </a:solidFill>
                <a:latin typeface="Calibri"/>
              </a:rPr>
              <a:t>Standard Capacity Regions</a:t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0B2E4F"/>
                </a:solidFill>
                <a:latin typeface="Calibri"/>
              </a:rPr>
              <a:t>US (3-region):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West US 3, Central US, Canada Central</a:t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0B2E4F"/>
                </a:solidFill>
                <a:latin typeface="Calibri"/>
              </a:rPr>
              <a:t>Europe (2-region):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Switzerland North, Sweden Central</a:t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0B2E4F"/>
                </a:solidFill>
                <a:latin typeface="Calibri"/>
              </a:rPr>
              <a:t>Australia (2-region):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Australia East, Australia Southeast</a:t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0B2E4F"/>
                </a:solidFill>
                <a:latin typeface="Calibri"/>
              </a:rPr>
              <a:t>Asia Pacific (2-region):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East Asia, Southeast Asia</a:t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0B2E4F"/>
                </a:solidFill>
                <a:latin typeface="Calibri"/>
              </a:rPr>
              <a:t>Middle East (2-region):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Saudi Arabia Central, UAE North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3912" y="2331720"/>
            <a:ext cx="82296" cy="246888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3912" y="2331720"/>
            <a:ext cx="5486400" cy="246888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468880"/>
            <a:ext cx="512064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5221F"/>
                </a:solidFill>
                <a:latin typeface="Calibri"/>
              </a:rPr>
              <a:t>Restricted Capacity Regions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Excluded from automated placement — eligible only via an explicit, approved exception (production only).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•  East US 2 (US)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•  North Europe, West Europe (Europe)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1">
                <a:solidFill>
                  <a:srgbClr val="5B6B7B"/>
                </a:solidFill>
                <a:latin typeface="Calibri"/>
              </a:rPr>
              <a:t>Japan East (Asia Pacific) — pending business confirmation, not yet selectable.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78D4"/>
                </a:solidFill>
                <a:latin typeface="Calibri"/>
              </a:rPr>
              <a:t>Scoring components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E4F"/>
                </a:solidFill>
                <a:latin typeface="Calibri"/>
              </a:rPr>
              <a:t>Available capacity  ·  Quota headroom  ·  Distribution fairness  ·  DR coverage health  ·  Zone diversity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B7B"/>
                </a:solidFill>
                <a:latin typeface="Calibri"/>
              </a:rPr>
              <a:t>Weights are versioned and recorded with every decision. During the pilot, placement is recommendation-only — a human commits.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D4"/>
                </a:solidFill>
                <a:latin typeface="Calibri"/>
              </a:rP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E4F"/>
                </a:solidFill>
                <a:latin typeface="Calibri"/>
              </a:rPr>
              <a:t>Middle East — DR Not Offered (Legal Pending)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25400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ACRME — Executive Design Document  ·  Internal — Restricted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1051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Middle East is a two-region geography (Saudi Arabia Central, UAE North) and is legal-owned. The current position is DR_NOT_OFFERED (DEC-001): data-sovereignty rules prevent cross-border DR, so no DR region is assigned. A cross-geo DR path to Switzerland North (Europe) is pre-configured but INACTIVE, pending legal clearance.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34640"/>
            <a:ext cx="82296" cy="7772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834640"/>
            <a:ext cx="11091672" cy="77724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36576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78D4"/>
                </a:solidFill>
                <a:latin typeface="Calibri"/>
              </a:rPr>
              <a:t>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68580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Higher-scoring of Saudi Arabia Central or UAE North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30752"/>
            <a:ext cx="82296" cy="77724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30752"/>
            <a:ext cx="11091672" cy="77724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30752"/>
            <a:ext cx="36576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Non-production (CVAL)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30752"/>
            <a:ext cx="68580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The other in-geography region (deterministic)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26864"/>
            <a:ext cx="82296" cy="77724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626864"/>
            <a:ext cx="11091672" cy="77724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26864"/>
            <a:ext cx="36576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5221F"/>
                </a:solidFill>
                <a:latin typeface="Calibri"/>
              </a:rPr>
              <a:t>Disaster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626864"/>
            <a:ext cx="68580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DR_NOT_OFFERED today (DEC-001) — no DR region assigned; Switzerland North path staged but inactive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B2E4F"/>
                </a:solidFill>
                <a:latin typeface="Calibri"/>
              </a:rPr>
              <a:t>No DR is provisioned while DR_NOT_OFFERED is in force. Activating the staged Switzerland North cross-geo path is a legal/business decision (DEC-001); it would still have to pass capacity and quota checks, and the engine never silently substitutes another region.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D4"/>
                </a:solidFill>
                <a:latin typeface="Calibri"/>
              </a:rP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E4F"/>
                </a:solidFill>
                <a:latin typeface="Calibri"/>
              </a:rPr>
              <a:t>How Disaster Recovery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25400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ACRME — Executive Design Document  ·  Internal — Restricted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48640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78D4"/>
                </a:solidFill>
                <a:latin typeface="Calibri"/>
              </a:rPr>
              <a:t>Declaration &amp; failover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Authorised operator requests declaration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Dual approval + state validation required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Engine enters disaster-event mode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Capacity, sharing, zones, quota re-validated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Approved failover deployments begin, observed per workload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Incident-hold mode if state conflicts appear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21208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78D4"/>
                </a:solidFill>
                <a:latin typeface="Calibri"/>
              </a:rPr>
              <a:t>The protected capacity floor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A calculated minimum that must stay available for recovery (design placeholder 30–40%). Enforced by ACRME — not a native cloud sub-reservation.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An independent detector recalculates the floor and blocks non-production expansion if the two calculations disagree (fail-closed).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78D4"/>
                </a:solidFill>
                <a:latin typeface="Calibri"/>
              </a:rPr>
              <a:t>Failback is gated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Controlled return to primary only after explicit approval, readiness validation, wave-based restore, and health checks. Starting too early is treated as a critical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D4"/>
                </a:solidFill>
                <a:latin typeface="Calibri"/>
              </a:rP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E4F"/>
                </a:solidFill>
                <a:latin typeface="Calibri"/>
              </a:rPr>
              <a:t>What Is Working Well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25400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ACRME — Executive Design Document  ·  Internal — Restricted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82296" cy="13716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5486400" cy="13716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28800"/>
            <a:ext cx="50292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2E4F"/>
                </a:solidFill>
                <a:latin typeface="Calibri"/>
              </a:rPr>
              <a:t>Comprehensive, reviewed architecture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Broad, coherent, independently reviewed; strong requirements coverage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3912" y="1691640"/>
            <a:ext cx="82296" cy="13716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691640"/>
            <a:ext cx="5486400" cy="13716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828800"/>
            <a:ext cx="50292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2E4F"/>
                </a:solidFill>
                <a:latin typeface="Calibri"/>
              </a:rPr>
              <a:t>Complete risk register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44 risks logged with likelihood, impact, mitigation, owner, residual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82112"/>
            <a:ext cx="82296" cy="13716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82112"/>
            <a:ext cx="5486400" cy="13716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319272"/>
            <a:ext cx="50292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2E4F"/>
                </a:solidFill>
                <a:latin typeface="Calibri"/>
              </a:rPr>
              <a:t>Phased approach with human control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Dangerous operations blocked or approval-gated in Phase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3912" y="3182112"/>
            <a:ext cx="82296" cy="13716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3912" y="3182112"/>
            <a:ext cx="5486400" cy="13716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3319272"/>
            <a:ext cx="50292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2E4F"/>
                </a:solidFill>
                <a:latin typeface="Calibri"/>
              </a:rPr>
              <a:t>Strong audit &amp; observability design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Append-only audit records; dashboards and critical guard alerts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72584"/>
            <a:ext cx="82296" cy="13716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672584"/>
            <a:ext cx="5486400" cy="13716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809744"/>
            <a:ext cx="50292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2E4F"/>
                </a:solidFill>
                <a:latin typeface="Calibri"/>
              </a:rPr>
              <a:t>Fact-check corrections applied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7 corrections; high-severity gaps written back into the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3912" y="4672584"/>
            <a:ext cx="82296" cy="13716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3912" y="4672584"/>
            <a:ext cx="5486400" cy="13716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9944" y="4809744"/>
            <a:ext cx="50292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2E4F"/>
                </a:solidFill>
                <a:latin typeface="Calibri"/>
              </a:rPr>
              <a:t>Manual survivability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Operators can still recover if the engine is unavailable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D4"/>
                </a:solidFill>
                <a:latin typeface="Calibri"/>
              </a:rP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E4F"/>
                </a:solidFill>
                <a:latin typeface="Calibri"/>
              </a:rPr>
              <a:t>What Is Still Being Validated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25400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ACRME — Executive Design Document  ·  Internal — Restricted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F2A37"/>
                </a:solidFill>
                <a:latin typeface="Calibri"/>
              </a:rPr>
              <a:t>None of these should be described as solved until the stated validation is done.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82296" cy="1170432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5486400" cy="1170432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322576"/>
            <a:ext cx="50292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5221F"/>
                </a:solidFill>
                <a:latin typeface="Calibri"/>
              </a:rPr>
              <a:t>BLOCKER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2E4F"/>
                </a:solidFill>
                <a:latin typeface="Calibri"/>
              </a:rPr>
              <a:t>Permissions model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Number-one production blocker — security review &amp; approval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3912" y="2194560"/>
            <a:ext cx="82296" cy="1170432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3912" y="2194560"/>
            <a:ext cx="5486400" cy="1170432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2322576"/>
            <a:ext cx="50292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5221F"/>
                </a:solidFill>
                <a:latin typeface="Calibri"/>
              </a:rPr>
              <a:t>BLOCKER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2E4F"/>
                </a:solidFill>
                <a:latin typeface="Calibri"/>
              </a:rPr>
              <a:t>End-to-end DR untested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Failover/failback not yet run live — go-live blocker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83864"/>
            <a:ext cx="82296" cy="1170432"/>
          </a:xfrm>
          <a:prstGeom prst="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83864"/>
            <a:ext cx="5486400" cy="1170432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611880"/>
            <a:ext cx="50292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86E00"/>
                </a:solidFill>
                <a:latin typeface="Calibri"/>
              </a:rPr>
              <a:t>VALIDATING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2E4F"/>
                </a:solidFill>
                <a:latin typeface="Calibri"/>
              </a:rPr>
              <a:t>Shared reservation is Preview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Not covered by GA commitments; can change or be withdrawn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3483864"/>
            <a:ext cx="82296" cy="1170432"/>
          </a:xfrm>
          <a:prstGeom prst="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3483864"/>
            <a:ext cx="5486400" cy="1170432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3611880"/>
            <a:ext cx="50292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86E00"/>
                </a:solidFill>
                <a:latin typeface="Calibri"/>
              </a:rPr>
              <a:t>VALIDATING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2E4F"/>
                </a:solidFill>
                <a:latin typeface="Calibri"/>
              </a:rPr>
              <a:t>100-customer pool ceiling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Hard platform limit; pools must be sharded beyond 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73168"/>
            <a:ext cx="82296" cy="1170432"/>
          </a:xfrm>
          <a:prstGeom prst="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773168"/>
            <a:ext cx="5486400" cy="1170432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901184"/>
            <a:ext cx="50292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86E00"/>
                </a:solidFill>
                <a:latin typeface="Calibri"/>
              </a:rPr>
              <a:t>VALIDATING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2E4F"/>
                </a:solidFill>
                <a:latin typeface="Calibri"/>
              </a:rPr>
              <a:t>Zone alignment across accounts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Mandatory onboarding gate; needs execution proof per pair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3912" y="4773168"/>
            <a:ext cx="82296" cy="1170432"/>
          </a:xfrm>
          <a:prstGeom prst="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3912" y="4773168"/>
            <a:ext cx="5486400" cy="1170432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4901184"/>
            <a:ext cx="50292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86E00"/>
                </a:solidFill>
                <a:latin typeface="Calibri"/>
              </a:rPr>
              <a:t>VALIDATING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2E4F"/>
                </a:solidFill>
                <a:latin typeface="Calibri"/>
              </a:rPr>
              <a:t>VMSS DR via shared reservation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Preview limitation; blocked for automated Phase 1 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D4"/>
                </a:solidFill>
                <a:latin typeface="Calibri"/>
              </a:rP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E4F"/>
                </a:solidFill>
                <a:latin typeface="Calibri"/>
              </a:rPr>
              <a:t>The Risks — Plain English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25400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ACRME — Executive Design Document  ·  Internal — Restricted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44 logged risks across four dimensions. Highest-impact items and what the programme is actually doing: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5486400" cy="4572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51206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Technology Risks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5486400" cy="1417319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5074920" cy="12801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•  Preview feature changed/withdrawn → feature flags, governance gate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•  VMSS can't reprovision in outage → block Phase 1, require GA path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•  Stale inventory drives a bad decision → confirm with direct reads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3912" y="2240280"/>
            <a:ext cx="5486400" cy="4572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240280"/>
            <a:ext cx="51206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Operational Risks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2697480"/>
            <a:ext cx="5486400" cy="1417319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788920"/>
            <a:ext cx="5074920" cy="12801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•  Permissions model over/under-grants → scoped MI, Tier 3 blocked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•  DR fails when first exercised → full exercise is a production gate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•  DR floor bypassed by bug/stale data → independent fail-closed detector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33671"/>
            <a:ext cx="5486400" cy="457200"/>
          </a:xfrm>
          <a:prstGeom prst="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33671"/>
            <a:ext cx="51206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Commercial Risks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90871"/>
            <a:ext cx="5486400" cy="1417319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82311"/>
            <a:ext cx="5074920" cy="12801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•  Discounts assumed that don't apply → per-customer scope validation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•  Over-reservation persists in Phase 1 → accepted cost of safety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•  DR coverage ratio mis-set → 30–40% is placeholder; needs policy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3912" y="4233671"/>
            <a:ext cx="5486400" cy="4572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4233671"/>
            <a:ext cx="51206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Customer Risks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3912" y="4690871"/>
            <a:ext cx="5486400" cy="1417319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4782311"/>
            <a:ext cx="5074920" cy="12801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•  Zone mismatch makes reservation useless → mandatory zone map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•  100-account ceiling breached → shard pools, monitor continuously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•  Forced pool removal strands restarts → default-deny + runbook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FC5E8"/>
                </a:solidFill>
                <a:latin typeface="Calibri"/>
              </a:rPr>
              <a:t>SECTION 11 —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Three Decisions Leadership Must Make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82296" cy="13716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0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0584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078D4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46504"/>
            <a:ext cx="96012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Accept the Preview feature dependency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FE2F3"/>
                </a:solidFill>
                <a:latin typeface="Calibri"/>
              </a:rPr>
              <a:t>Shared reservations are still Microsoft Preview. Recommendation: accept for a bounded pilot after gates; require a separate production decision later.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81528"/>
            <a:ext cx="82296" cy="13716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081528"/>
            <a:ext cx="11091672" cy="137160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81528"/>
            <a:ext cx="100584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078D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227832"/>
            <a:ext cx="96012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Approve the permissions model approach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FE2F3"/>
                </a:solidFill>
                <a:latin typeface="Calibri"/>
              </a:rPr>
              <a:t>The credential model is the #1 production blocker. Recommendation: customer-consented managed identity with narrow, resource-group-scoped roles — never subscription-wide admin. Tier 3 stays blocked until security approves.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62856"/>
            <a:ext cx="82296" cy="13716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562856"/>
            <a:ext cx="11091672" cy="137160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62856"/>
            <a:ext cx="100584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078D4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709160"/>
            <a:ext cx="96012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Set the disaster recovery floor policy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FE2F3"/>
                </a:solidFill>
                <a:latin typeface="Calibri"/>
              </a:rPr>
              <a:t>How much capacity is held for DR is a business decision. 30–40% is a placeholder. Recommendation: customer-specific recovery analysis for critical workloads.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9FC5E8"/>
                </a:solidFill>
                <a:latin typeface="Calibri"/>
              </a:rPr>
              <a:t>Until each decision is made explicitly, the programme is not cleared for the corresponding scope.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D4"/>
                </a:solidFill>
                <a:latin typeface="Calibri"/>
              </a:rP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E4F"/>
                </a:solidFill>
                <a:latin typeface="Calibri"/>
              </a:rPr>
              <a:t>Recommended Go-Live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25400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ACRME — Executive Design Document  ·  Internal — Restricted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Three stages, each with entry gates. Skipping gates exports risk to customers.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3611880" cy="8686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324612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Phase 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AF1F8"/>
                </a:solidFill>
                <a:latin typeface="Calibri"/>
              </a:rPr>
              <a:t>Pilot (Constrained)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54680"/>
            <a:ext cx="3611880" cy="283464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10128"/>
            <a:ext cx="315468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•  Few customers; manual approval for capacity changes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•  Placement recommendation-only; DR automation off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•  Destructive &amp; VMSS emergency actions rejected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•  Gate: Preview risk accepted, zones validated, rollback proven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8536" y="2286000"/>
            <a:ext cx="3611880" cy="86868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2395728"/>
            <a:ext cx="324612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Phase 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AF1F8"/>
                </a:solidFill>
                <a:latin typeface="Calibri"/>
              </a:rPr>
              <a:t>Controlled Automation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8536" y="3154680"/>
            <a:ext cx="3611880" cy="283464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3310128"/>
            <a:ext cx="315468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•  Automate lower-risk operations on Phase 1 evidence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•  DR automation remains gated; reallocation only if proven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•  Tier 3 blocked until permissions + state machine close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•  Gate: concurrency proven, mode transitions fault-tested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2286000"/>
            <a:ext cx="3611880" cy="86868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2395728"/>
            <a:ext cx="324612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Production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AF1F8"/>
                </a:solidFill>
                <a:latin typeface="Calibri"/>
              </a:rPr>
              <a:t>Full Automation (After Gates)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8432" y="3154680"/>
            <a:ext cx="3611880" cy="283464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2" y="3310128"/>
            <a:ext cx="315468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•  Only after all gates pass and blockers close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•  DR tested end-to-end with recovery objectives met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•  Cost/discount validated per customer vs. billing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•  Destructive tiers need separate board authorisation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B2E4F"/>
                </a:solidFill>
                <a:latin typeface="Calibri"/>
              </a:rPr>
              <a:t>Council position: approve a two-stage programme — constrained pilot now, controlled production later. Unrestricted autonomous DR is not approved.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Immediate Actions for Leadership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1091672" cy="713232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73152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078D4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987552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Record a formal Preview-feature decision for the pilot, with a named owner of residual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1091672" cy="713232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73152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078D4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77440"/>
            <a:ext cx="987552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Commission the security review of the customer permissions model and set a decision 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11091672" cy="713232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00400"/>
            <a:ext cx="73152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078D4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00400"/>
            <a:ext cx="987552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Set interim DR floor and emergency headroom policy values for the pilot cohort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023360"/>
            <a:ext cx="11091672" cy="713232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73152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078D4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23360"/>
            <a:ext cx="987552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Confirm the pilot customer list and written acceptance of known limitations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4632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846320"/>
            <a:ext cx="11091672" cy="713232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73152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078D4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46320"/>
            <a:ext cx="987552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Schedule the end-to-end DR exercise as a gated milestone on the production path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06440"/>
            <a:ext cx="11091672" cy="25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94360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CFE2F3"/>
                </a:solidFill>
                <a:latin typeface="Calibri"/>
              </a:rPr>
              <a:t>The honest position: design complete, validation in progress, conditional pilot supportable — unrestricted autonomous disaster-recovery automation not approved.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